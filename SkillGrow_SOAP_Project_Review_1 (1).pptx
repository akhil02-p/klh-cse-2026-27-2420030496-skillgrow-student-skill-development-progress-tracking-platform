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13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13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13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13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13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hyperlink" Target="https://svgsilh.com/03a9f4/image/98809.html" TargetMode="External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029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5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9509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Times New Roman"/>
              </a:rPr>
              <a:t>SOA PROJECT REVIEW –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A50000"/>
                </a:solidFill>
                <a:latin typeface="Times New Roman"/>
              </a:rPr>
              <a:t>SkillGrow – Student Skill Development &amp; Progress Tracking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880360"/>
            <a:ext cx="7315200" cy="2148840"/>
          </a:xfrm>
          <a:prstGeom prst="roundRect">
            <a:avLst/>
          </a:prstGeom>
          <a:solidFill>
            <a:srgbClr val="F4F4F4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30632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50000"/>
                </a:solidFill>
                <a:latin typeface="Times New Roman"/>
              </a:rPr>
              <a:t>PROJECT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493008"/>
            <a:ext cx="6217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73737"/>
                </a:solidFill>
                <a:latin typeface="Times New Roman"/>
              </a:defRPr>
            </a:pPr>
            <a:r>
              <a:t>P Akhil Kumar Reddy  —  2420030496</a:t>
            </a:r>
          </a:p>
          <a:p>
            <a:pPr>
              <a:spcAft>
                <a:spcPts val="300"/>
              </a:spcAft>
              <a:defRPr sz="1600">
                <a:solidFill>
                  <a:srgbClr val="373737"/>
                </a:solidFill>
                <a:latin typeface="Times New Roman"/>
              </a:defRPr>
            </a:pPr>
            <a:r>
              <a:t>G Rohan Chowdary     —  2420030564</a:t>
            </a:r>
          </a:p>
          <a:p>
            <a:pPr>
              <a:spcAft>
                <a:spcPts val="300"/>
              </a:spcAft>
              <a:defRPr sz="1600">
                <a:solidFill>
                  <a:srgbClr val="373737"/>
                </a:solidFill>
                <a:latin typeface="Times New Roman"/>
              </a:defRPr>
            </a:pPr>
            <a:r>
              <a:t>K. Sai Pranav Reddy  —  2420030224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6177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3737"/>
                </a:solidFill>
                <a:latin typeface="Times New Roman"/>
              </a:rPr>
              <a:t>Guide: Venkateswari Ketineni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0109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Times New Roman"/>
              </a:rPr>
              <a:t>Course: SOA Programming and Microservices – (24SDCS03)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509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87878"/>
                </a:solidFill>
                <a:latin typeface="Times New Roman"/>
              </a:rPr>
              <a:t>27 August 2026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914400" y="320040"/>
            <a:ext cx="9235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Times New Roman"/>
              </a:rPr>
              <a:t>Outline of Project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13075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12618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15819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Why SkillGrow is needed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1143000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9592" y="13075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2618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58191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Current student skill-tracking gap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2221992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23865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234086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Objectives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266090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What the platform aims to achieve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2221992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9592" y="23865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34086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Literature / Existing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66090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Limitations addressed by SkillGrow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3300984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34655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34198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Problem Gap Identification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3739896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From fragmented tracking to unified guidance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0" y="3300984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79592" y="34655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34198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Innovation &amp; Novelty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739896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Integrated full-stack + ML approach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4379976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8992" y="45445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44988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Architecture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48188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React → Spring Boot → ML → MySQL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15000" y="4379976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79592" y="45445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50000"/>
                </a:solidFill>
                <a:latin typeface="Times New Roman"/>
              </a:rPr>
              <a:t>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4988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Times New Roman"/>
              </a:rPr>
              <a:t>Feasibility &amp; Project 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8188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87878"/>
                </a:solidFill>
                <a:latin typeface="Times New Roman"/>
              </a:rPr>
              <a:t>Proposed implementation phases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Times New Roman"/>
              </a:rPr>
              <a:t>A.Y. 2026–2027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87878"/>
                </a:solidFill>
                <a:latin typeface="Times New Roman"/>
              </a:rPr>
              <a:t>SOA Programming and Microservices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87878"/>
                </a:solidFill>
                <a:latin typeface="Times New Roman"/>
              </a:rPr>
              <a:t>Review–1  |  2</a:t>
            </a:r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9235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91919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234440"/>
            <a:ext cx="9144000" cy="1417320"/>
          </a:xfrm>
          <a:prstGeom prst="roundRect">
            <a:avLst/>
          </a:prstGeom>
          <a:solidFill>
            <a:srgbClr val="F7E8E8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91919"/>
                </a:solidFill>
                <a:latin typeface="Times New Roman"/>
              </a:rPr>
              <a:t>Students often lack a single place to record coursework, projects, certifications and skill milestones. This creates fragmented self-assessment, limited visibility into progress, and slower skill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63240"/>
            <a:ext cx="27889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A50000"/>
                </a:solidFill>
                <a:latin typeface="Times New Roman"/>
              </a:defRPr>
            </a:pPr>
            <a:r>
              <a:t>Fragmented Records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Coursework, projects and certifications are maintained in different places.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3063240"/>
            <a:ext cx="27889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2A6EB4"/>
                </a:solidFill>
                <a:latin typeface="Times New Roman"/>
              </a:defRPr>
            </a:pPr>
            <a:r>
              <a:t>Poor Progress Visibility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Students need clearer tracking of milestones and growth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3063240"/>
            <a:ext cx="292608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208250"/>
                </a:solidFill>
                <a:latin typeface="Times New Roman"/>
              </a:defRPr>
            </a:pPr>
            <a:r>
              <a:t>Limited Guidance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Students need tailored recommendations on what to learn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6636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3737"/>
                </a:solidFill>
                <a:latin typeface="Times New Roman"/>
              </a:rPr>
              <a:t>SkillGrow addresses this through a unified dashboard with structured learning paths and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Times New Roman"/>
              </a:rPr>
              <a:t>A.Y.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87878"/>
                </a:solidFill>
                <a:latin typeface="Times New Roman"/>
              </a:rPr>
              <a:t>SOA Programming and 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87878"/>
                </a:solidFill>
                <a:latin typeface="Times New Roman"/>
              </a:rPr>
              <a:t>Review–1  |  3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9235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91919"/>
                </a:solidFill>
                <a:latin typeface="Times New Roman"/>
              </a:rPr>
              <a:t>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143000"/>
            <a:ext cx="502920" cy="502920"/>
          </a:xfrm>
          <a:prstGeom prst="ellipse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2529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97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50000"/>
                </a:solidFill>
                <a:latin typeface="Times New Roman"/>
              </a:rPr>
              <a:t>Unified Skill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0972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Times New Roman"/>
              </a:rPr>
              <a:t>Record skill milestones, coursework, projects and certifications in one platform.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039112"/>
            <a:ext cx="502920" cy="502920"/>
          </a:xfrm>
          <a:prstGeom prst="ellipse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2140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933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50000"/>
                </a:solidFill>
                <a:latin typeface="Times New Roman"/>
              </a:rPr>
              <a:t>Progress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993392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Times New Roman"/>
              </a:rPr>
              <a:t>Visualize skill growth and monitor progress against structured learning paths.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2935224"/>
            <a:ext cx="502920" cy="502920"/>
          </a:xfrm>
          <a:prstGeom prst="ellipse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8950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50000"/>
                </a:solidFill>
                <a:latin typeface="Times New Roman"/>
              </a:rPr>
              <a:t>Personalized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89504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Times New Roman"/>
              </a:rPr>
              <a:t>Use activity and skill history to recommend relevant resources and next steps.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831336"/>
            <a:ext cx="502920" cy="502920"/>
          </a:xfrm>
          <a:prstGeom prst="ellipse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1363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8561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50000"/>
                </a:solidFill>
                <a:latin typeface="Times New Roman"/>
              </a:rPr>
              <a:t>Secure Role-Based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85616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Times New Roman"/>
              </a:rPr>
              <a:t>Protect student data with JWT authentication and access for students, mentors and administrators.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727448"/>
            <a:ext cx="502920" cy="502920"/>
          </a:xfrm>
          <a:prstGeom prst="ellipse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0974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817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50000"/>
                </a:solidFill>
                <a:latin typeface="Times New Roman"/>
              </a:rPr>
              <a:t>Scalable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681728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Times New Roman"/>
              </a:rPr>
              <a:t>Use React, Spring Boot REST APIs, Python ML, MySQL and Docker for a maintainable system.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Times New Roman"/>
              </a:rPr>
              <a:t>A.Y. 2026–2027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87878"/>
                </a:solidFill>
                <a:latin typeface="Times New Roman"/>
              </a:rPr>
              <a:t>SOA Programming and Microservices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87878"/>
                </a:solidFill>
                <a:latin typeface="Times New Roman"/>
              </a:rPr>
              <a:t>Review–1  |  4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0040"/>
            <a:ext cx="9235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91919"/>
                </a:solidFill>
                <a:latin typeface="Times New Roman"/>
              </a:rPr>
              <a:t>Literature / Existing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9611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Times New Roman"/>
              </a:rPr>
              <a:t>The project abstract identifies the following limitations in the current student skill-development experience.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1828800" cy="530352"/>
          </a:xfrm>
          <a:prstGeom prst="rect">
            <a:avLst/>
          </a:prstGeom>
          <a:solidFill>
            <a:srgbClr val="A5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3619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Current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417320"/>
            <a:ext cx="2743200" cy="530352"/>
          </a:xfrm>
          <a:prstGeom prst="rect">
            <a:avLst/>
          </a:prstGeom>
          <a:solidFill>
            <a:srgbClr val="A5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5361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Observed 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417320"/>
            <a:ext cx="2743200" cy="530352"/>
          </a:xfrm>
          <a:prstGeom prst="rect">
            <a:avLst/>
          </a:prstGeom>
          <a:solidFill>
            <a:srgbClr val="A5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5361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SkillGrow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1828800" cy="530352"/>
          </a:xfrm>
          <a:prstGeom prst="rect">
            <a:avLst/>
          </a:prstGeom>
          <a:solidFill>
            <a:srgbClr val="A5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3619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Expected Benefit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947672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075688"/>
            <a:ext cx="16824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A50000"/>
                </a:solidFill>
                <a:latin typeface="Times New Roman"/>
              </a:rPr>
              <a:t>Skill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947672"/>
            <a:ext cx="27432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2075688"/>
            <a:ext cx="25968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Coursework, projects and certifications can be fragmented.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947672"/>
            <a:ext cx="27432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2075688"/>
            <a:ext cx="25968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Unified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947672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075688"/>
            <a:ext cx="16824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Single source of progress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026664"/>
            <a:ext cx="1828800" cy="1078992"/>
          </a:xfrm>
          <a:prstGeom prst="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154680"/>
            <a:ext cx="16824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A50000"/>
                </a:solidFill>
                <a:latin typeface="Times New Roman"/>
              </a:rPr>
              <a:t>Progress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026664"/>
            <a:ext cx="2743200" cy="1078992"/>
          </a:xfrm>
          <a:prstGeom prst="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16352" y="3154680"/>
            <a:ext cx="25968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Self-assessment may not show growth clearly over 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026664"/>
            <a:ext cx="2743200" cy="1078992"/>
          </a:xfrm>
          <a:prstGeom prst="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9552" y="3154680"/>
            <a:ext cx="25968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Milestones + learning paths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026664"/>
            <a:ext cx="1828800" cy="1078992"/>
          </a:xfrm>
          <a:prstGeom prst="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154680"/>
            <a:ext cx="16824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Clearer growth visibility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105656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16824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A50000"/>
                </a:solidFill>
                <a:latin typeface="Times New Roman"/>
              </a:rPr>
              <a:t>Next-step guidance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105656"/>
            <a:ext cx="27432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6352" y="4233672"/>
            <a:ext cx="25968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Students may not know which skills/resources to pursue next.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4105656"/>
            <a:ext cx="27432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9552" y="4233672"/>
            <a:ext cx="25968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Python ML recommendations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105656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4233672"/>
            <a:ext cx="168249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73737"/>
                </a:solidFill>
                <a:latin typeface="Times New Roman"/>
              </a:rPr>
              <a:t>Tailored learning direction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Times New Roman"/>
              </a:rPr>
              <a:t>Note: This slide is derived from the supplied project abstract; no external papers were provided.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Times New Roman"/>
              </a:rPr>
              <a:t>A.Y. 2026–2027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87878"/>
                </a:solidFill>
                <a:latin typeface="Times New Roman"/>
              </a:rPr>
              <a:t>SOA Programming and Microservices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87878"/>
                </a:solidFill>
                <a:latin typeface="Times New Roman"/>
              </a:rPr>
              <a:t>Review–1  |  5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9235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Times New Roman"/>
              </a:rPr>
              <a:t>Problem Gap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50000"/>
                </a:solidFill>
                <a:latin typeface="Times New Roman"/>
              </a:rPr>
              <a:t>CURRENT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09728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08250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3840480" cy="566928"/>
          </a:xfrm>
          <a:prstGeom prst="roundRect">
            <a:avLst/>
          </a:prstGeom>
          <a:solidFill>
            <a:srgbClr val="F7E8E8"/>
          </a:solidFill>
          <a:ln>
            <a:solidFill>
              <a:srgbClr val="E1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2821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Scattered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7099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50000"/>
                </a:solidFill>
                <a:latin typeface="Times New Roman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3840480" cy="566928"/>
          </a:xfrm>
          <a:prstGeom prst="roundRect">
            <a:avLst/>
          </a:prstGeom>
          <a:solidFill>
            <a:srgbClr val="E8F6ED"/>
          </a:solidFill>
          <a:ln>
            <a:solidFill>
              <a:srgbClr val="AA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2821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Unified student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23160"/>
            <a:ext cx="3840480" cy="566928"/>
          </a:xfrm>
          <a:prstGeom prst="roundRect">
            <a:avLst/>
          </a:prstGeom>
          <a:solidFill>
            <a:srgbClr val="F7E8E8"/>
          </a:solidFill>
          <a:ln>
            <a:solidFill>
              <a:srgbClr val="E1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5117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Manual self-assessment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5328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50000"/>
                </a:solidFill>
                <a:latin typeface="Times New Roma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423160"/>
            <a:ext cx="3840480" cy="566928"/>
          </a:xfrm>
          <a:prstGeom prst="roundRect">
            <a:avLst/>
          </a:prstGeom>
          <a:solidFill>
            <a:srgbClr val="E8F6ED"/>
          </a:solidFill>
          <a:ln>
            <a:solidFill>
              <a:srgbClr val="AA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55117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Structured skill milestones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3840480" cy="566928"/>
          </a:xfrm>
          <a:prstGeom prst="roundRect">
            <a:avLst/>
          </a:prstGeom>
          <a:solidFill>
            <a:srgbClr val="F7E8E8"/>
          </a:solidFill>
          <a:ln>
            <a:solidFill>
              <a:srgbClr val="E1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7413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Limited progress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3558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50000"/>
                </a:solidFill>
                <a:latin typeface="Times New Roma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246120"/>
            <a:ext cx="3840480" cy="566928"/>
          </a:xfrm>
          <a:prstGeom prst="roundRect">
            <a:avLst/>
          </a:prstGeom>
          <a:solidFill>
            <a:srgbClr val="E8F6ED"/>
          </a:solidFill>
          <a:ln>
            <a:solidFill>
              <a:srgbClr val="AA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37413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Dashboard-based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69080"/>
            <a:ext cx="3840480" cy="566928"/>
          </a:xfrm>
          <a:prstGeom prst="roundRect">
            <a:avLst/>
          </a:prstGeom>
          <a:solidFill>
            <a:srgbClr val="F7E8E8"/>
          </a:solidFill>
          <a:ln>
            <a:solidFill>
              <a:srgbClr val="E1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19709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Generic learning direction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1788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50000"/>
                </a:solidFill>
                <a:latin typeface="Times New Roman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069080"/>
            <a:ext cx="3840480" cy="566928"/>
          </a:xfrm>
          <a:prstGeom prst="roundRect">
            <a:avLst/>
          </a:prstGeom>
          <a:solidFill>
            <a:srgbClr val="E8F6ED"/>
          </a:solidFill>
          <a:ln>
            <a:solidFill>
              <a:srgbClr val="AAD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197096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3737"/>
                </a:solidFill>
                <a:latin typeface="Times New Roman"/>
              </a:rPr>
              <a:t>ML-driven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166360"/>
            <a:ext cx="9052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1919"/>
                </a:solidFill>
                <a:latin typeface="Times New Roman"/>
              </a:rPr>
              <a:t>Core gap: connecting skill data, progress tracking and personalized recommendations in one secure platform.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Times New Roman"/>
              </a:rPr>
              <a:t>A.Y. 2026–2027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87878"/>
                </a:solidFill>
                <a:latin typeface="Times New Roman"/>
              </a:rPr>
              <a:t>SOA Programming and Microservices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87878"/>
                </a:solidFill>
                <a:latin typeface="Times New Roman"/>
              </a:rPr>
              <a:t>Review–1  |  6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"/>
            <a:ext cx="9235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91919"/>
                </a:solidFill>
                <a:latin typeface="Times New Roman"/>
              </a:rPr>
              <a:t>Innovation, Creativity, and Novelty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3840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A50000"/>
                </a:solidFill>
                <a:latin typeface="Times New Roman"/>
              </a:defRPr>
            </a:pPr>
            <a:r>
              <a:t>Integrated Skill Intelligence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Combines structured tracking with ML-based next-step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840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2A6EB4"/>
                </a:solidFill>
                <a:latin typeface="Times New Roman"/>
              </a:defRPr>
            </a:pPr>
            <a:r>
              <a:t>Service-Oriented Design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React client communicates with a Spring Boot REST service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3840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208250"/>
                </a:solidFill>
                <a:latin typeface="Times New Roman"/>
              </a:defRPr>
            </a:pPr>
            <a:r>
              <a:t>Secure &amp; Deployable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JWT role-based access, MySQL persistence and Docker-based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9601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50000"/>
                </a:solidFill>
                <a:latin typeface="Times New Roman"/>
              </a:rPr>
              <a:t>PROPOSED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Times New Roman"/>
              </a:rPr>
              <a:t>A.Y. 2026–2027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87878"/>
                </a:solidFill>
                <a:latin typeface="Times New Roman"/>
              </a:rPr>
              <a:t>SOA Programming and Microservices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87878"/>
                </a:solidFill>
                <a:latin typeface="Times New Roman"/>
              </a:rPr>
              <a:t>Review–1  |  7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98448"/>
            <a:ext cx="3014091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00600" y="55595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87878"/>
                </a:solidFill>
                <a:latin typeface="Times New Roman"/>
              </a:rPr>
              <a:t>Architecture reproduced from the supplied project abstract (page 2).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"/>
            <a:ext cx="9235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Times New Roman"/>
              </a:rPr>
              <a:t>Feasibility and Project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Times New Roman"/>
              </a:rPr>
              <a:t>The proposed stack is feasible using established technologies and a modular service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926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A50000"/>
                </a:solidFill>
                <a:latin typeface="Times New Roman"/>
              </a:defRPr>
            </a:pPr>
            <a:r>
              <a:t>Technical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React + Spring Boot + Python ML + MySQL +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40" y="1417320"/>
            <a:ext cx="2926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2A6EB4"/>
                </a:solidFill>
                <a:latin typeface="Times New Roman"/>
              </a:defRPr>
            </a:pPr>
            <a:r>
              <a:t>Operational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Role-based dashboards for students, mentors and administrators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417320"/>
            <a:ext cx="2926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208250"/>
                </a:solidFill>
                <a:latin typeface="Times New Roman"/>
              </a:defRPr>
            </a:pPr>
            <a:r>
              <a:t>Scalability</a:t>
            </a:r>
          </a:p>
          <a:p>
            <a:pPr>
              <a:defRPr sz="1400">
                <a:solidFill>
                  <a:srgbClr val="373737"/>
                </a:solidFill>
                <a:latin typeface="Times New Roman"/>
              </a:defRPr>
            </a:pPr>
            <a:r>
              <a:t>REST services and containerization support future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50000"/>
                </a:solidFill>
                <a:latin typeface="Times New Roman"/>
              </a:rPr>
              <a:t>PROPOSED 12-WEEK IMPLEMENTATION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898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87878"/>
                </a:solidFill>
                <a:latin typeface="Times New Roman"/>
              </a:rPr>
              <a:t>W12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5468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73737"/>
                </a:solidFill>
                <a:latin typeface="Times New Roman"/>
              </a:rPr>
              <a:t>Requirements &amp;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6324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2940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315468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487168" y="3182112"/>
            <a:ext cx="530352" cy="237744"/>
          </a:xfrm>
          <a:prstGeom prst="roundRect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81528" y="3182112"/>
            <a:ext cx="530352" cy="237744"/>
          </a:xfrm>
          <a:prstGeom prst="roundRect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63016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73737"/>
                </a:solidFill>
                <a:latin typeface="Times New Roman"/>
              </a:rPr>
              <a:t>React Frontend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6324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4632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4068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2940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2376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1812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1248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06840" y="3630168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75888" y="3657600"/>
            <a:ext cx="530352" cy="237744"/>
          </a:xfrm>
          <a:prstGeom prst="roundRect">
            <a:avLst/>
          </a:prstGeom>
          <a:solidFill>
            <a:srgbClr val="2A6EB4"/>
          </a:solidFill>
          <a:ln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270248" y="3657600"/>
            <a:ext cx="530352" cy="237744"/>
          </a:xfrm>
          <a:prstGeom prst="roundRect">
            <a:avLst/>
          </a:prstGeom>
          <a:solidFill>
            <a:srgbClr val="2A6EB4"/>
          </a:solidFill>
          <a:ln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105656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73737"/>
                </a:solidFill>
                <a:latin typeface="Times New Roman"/>
              </a:rPr>
              <a:t>Spring Boot + REST APIs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6324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5196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4632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4068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3504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2940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2376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1812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1248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06840" y="4105656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864608" y="4133088"/>
            <a:ext cx="530352" cy="237744"/>
          </a:xfrm>
          <a:prstGeom prst="roundRect">
            <a:avLst/>
          </a:prstGeom>
          <a:solidFill>
            <a:srgbClr val="208250"/>
          </a:solidFill>
          <a:ln>
            <a:solidFill>
              <a:srgbClr val="2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458968" y="4133088"/>
            <a:ext cx="530352" cy="237744"/>
          </a:xfrm>
          <a:prstGeom prst="roundRect">
            <a:avLst/>
          </a:prstGeom>
          <a:solidFill>
            <a:srgbClr val="208250"/>
          </a:solidFill>
          <a:ln>
            <a:solidFill>
              <a:srgbClr val="2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053328" y="4133088"/>
            <a:ext cx="530352" cy="237744"/>
          </a:xfrm>
          <a:prstGeom prst="roundRect">
            <a:avLst/>
          </a:prstGeom>
          <a:solidFill>
            <a:srgbClr val="208250"/>
          </a:solidFill>
          <a:ln>
            <a:solidFill>
              <a:srgbClr val="2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4581144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73737"/>
                </a:solidFill>
                <a:latin typeface="Times New Roman"/>
              </a:rPr>
              <a:t>Python ML Recommendations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6888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6324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5196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4632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4068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3504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2940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2376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81812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1248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06840" y="4581144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647688" y="4608576"/>
            <a:ext cx="530352" cy="237744"/>
          </a:xfrm>
          <a:prstGeom prst="roundRect">
            <a:avLst/>
          </a:prstGeom>
          <a:solidFill>
            <a:srgbClr val="DC7D1E"/>
          </a:solidFill>
          <a:ln>
            <a:solidFill>
              <a:srgbClr val="DC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242048" y="4608576"/>
            <a:ext cx="530352" cy="237744"/>
          </a:xfrm>
          <a:prstGeom prst="roundRect">
            <a:avLst/>
          </a:prstGeom>
          <a:solidFill>
            <a:srgbClr val="DC7D1E"/>
          </a:solidFill>
          <a:ln>
            <a:solidFill>
              <a:srgbClr val="DC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4360" y="505663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73737"/>
                </a:solidFill>
                <a:latin typeface="Times New Roman"/>
              </a:rPr>
              <a:t>Integration &amp; Testing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6888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6324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5760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5196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84632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44068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03504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62940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22376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81812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1248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06840" y="5056632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836408" y="5084064"/>
            <a:ext cx="530352" cy="237744"/>
          </a:xfrm>
          <a:prstGeom prst="roundRect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430768" y="5084064"/>
            <a:ext cx="530352" cy="237744"/>
          </a:xfrm>
          <a:prstGeom prst="roundRect">
            <a:avLst/>
          </a:prstGeom>
          <a:solidFill>
            <a:srgbClr val="A50000"/>
          </a:solidFill>
          <a:ln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4360" y="55321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373737"/>
                </a:solidFill>
                <a:latin typeface="Times New Roman"/>
              </a:rPr>
              <a:t>Docker + Evaluation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6888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06324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5760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5196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84632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4068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03504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62940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22376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81812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1248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06840" y="5532120"/>
            <a:ext cx="566928" cy="292608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025128" y="5559552"/>
            <a:ext cx="530352" cy="237744"/>
          </a:xfrm>
          <a:prstGeom prst="roundRect">
            <a:avLst/>
          </a:prstGeom>
          <a:solidFill>
            <a:srgbClr val="2A6EB4"/>
          </a:solidFill>
          <a:ln>
            <a:solidFill>
              <a:srgbClr val="2A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2920" y="5989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  <a:latin typeface="Times New Roman"/>
              </a:rPr>
              <a:t>A.Y. 2026–2027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46120" y="598932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87878"/>
                </a:solidFill>
                <a:latin typeface="Times New Roman"/>
              </a:rPr>
              <a:t>SOA Programming and Microservices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29600" y="59893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87878"/>
                </a:solidFill>
                <a:latin typeface="Times New Roman"/>
              </a:rPr>
              <a:t>Review–1  |  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5559552"/>
            <a:ext cx="9326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87878"/>
                </a:solidFill>
                <a:latin typeface="Times New Roman"/>
              </a:rPr>
              <a:t>Timeline is a proposed project plan for review purposes and was not specified in the supplied abstract.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204</Words>
  <Application>Microsoft Office PowerPoint</Application>
  <PresentationFormat>Widescreen</PresentationFormat>
  <Paragraphs>61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Neelima Gogineni</cp:lastModifiedBy>
  <cp:revision>32</cp:revision>
  <dcterms:created xsi:type="dcterms:W3CDTF">2026-08-08T06:33:56Z</dcterms:created>
  <dcterms:modified xsi:type="dcterms:W3CDTF">2026-08-13T06:35:01Z</dcterms:modified>
</cp:coreProperties>
</file>